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  ·  AI-POWERED TARGET PRIORITIZATION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New Evidence Axes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independent biological evidence to find targets that single-source scoring misses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Dysregulation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39776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3977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Kurmachalam   ·   Demonstration disease: Pancreatic adenocarcinoma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these three axes?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One source is not enough.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4748B"/>
                </a:solidFill>
              </a:rPr>
              <a:t>Ranking targets by a single aggregated score (e.g. Open Targets alone) quietly buries genes that are real targets but score low on that one measure.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Each new axis is an independent line of evidence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— answering a different biological question. Used together, they recover targets that any one source would drop.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23760" y="155448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SRC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2402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Open Targets score: </a:t>
            </a:r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</a:rPr>
              <a:t>0.39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64748B"/>
                </a:solidFill>
              </a:rPr>
              <a:t>Buried at rank ~5,000 — invisible to anyone looking at the top of the list.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Add the new axes: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</a:rPr>
              <a:t>▲ over-expressed in tumor (+1.46)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</a:rPr>
              <a:t>● a real pancreatic dependency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EF3C7"/>
                </a:solidFill>
              </a:rPr>
              <a:t>◆ druggable, constraint understood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→ SRC rises into view.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new axes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56432" cy="411480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9659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90" dirty="0"/>
          </a:p>
        </p:txBody>
      </p:sp>
      <p:sp>
        <p:nvSpPr>
          <p:cNvPr id="6" name="Text 4"/>
          <p:cNvSpPr/>
          <p:nvPr/>
        </p:nvSpPr>
        <p:spPr>
          <a:xfrm>
            <a:off x="2011680" y="2011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Dysregulation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gene abnormally expressed in the tumor?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57200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2724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tumor + GTEx normal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UCSC Xena Toil)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07992" y="1600200"/>
            <a:ext cx="3456432" cy="411480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96596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90" dirty="0"/>
          </a:p>
        </p:txBody>
      </p:sp>
      <p:sp>
        <p:nvSpPr>
          <p:cNvPr id="13" name="Text 11"/>
          <p:cNvSpPr/>
          <p:nvPr/>
        </p:nvSpPr>
        <p:spPr>
          <a:xfrm>
            <a:off x="5879592" y="2011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73752" y="3154680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tumor need this gene to survive?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73752" y="457200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4846320"/>
            <a:ext cx="2724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CRISPR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knockout screens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75904" y="1600200"/>
            <a:ext cx="3456432" cy="411480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41664" y="1965960"/>
            <a:ext cx="868680" cy="8686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741664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90" dirty="0"/>
          </a:p>
        </p:txBody>
      </p:sp>
      <p:sp>
        <p:nvSpPr>
          <p:cNvPr id="20" name="Text 18"/>
          <p:cNvSpPr/>
          <p:nvPr/>
        </p:nvSpPr>
        <p:spPr>
          <a:xfrm>
            <a:off x="9747504" y="2011680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741664" y="3154680"/>
            <a:ext cx="27249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drug — or essential to healthy cells?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41664" y="4572000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41664" y="4846320"/>
            <a:ext cx="2724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population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in the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56432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874520" y="20574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gene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gene under a disease — e.g. SRC under pancreatic cancer.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07992" y="1645920"/>
            <a:ext cx="3456432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3752" y="20116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5742432" y="20574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panels appear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73752" y="288036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axis fetches and shows its own drill-down panel, beside the existing mutation / druggability / clinical evidence.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75904" y="1645920"/>
            <a:ext cx="3456432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41664" y="201168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74166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60" dirty="0"/>
          </a:p>
        </p:txBody>
      </p:sp>
      <p:sp>
        <p:nvSpPr>
          <p:cNvPr id="16" name="Text 14"/>
          <p:cNvSpPr/>
          <p:nvPr/>
        </p:nvSpPr>
        <p:spPr>
          <a:xfrm>
            <a:off x="9610344" y="205740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traceable numbers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41664" y="288036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comes from a named public source with its provenance — no invented numbers.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delivery modes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800600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Live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gnomAD (Safety) — queried in real time, stable API.      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Preloaded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Expression &amp; Dependency are large reference datasets, built once into a fast local table.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285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additive — no existing scoring or logic was changed.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828800"/>
            <a:ext cx="3291840" cy="32918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377440"/>
            <a:ext cx="2194560" cy="21945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377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8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Dysregulation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vs Normal expression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Dysregulation — what it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Compares how strongly a gene is expressed in tumor tissue versus healthy tissue.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 gene that is strongly over-expressed in the tumor is a candidate driver and a potential drug target.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ADDS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“Associated with a disease” is not the same as “actually dysregulated in the tumor.”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This axis tests the latter — and it is exactly the signal that lifts genes like SRC, whose raw genetic score is 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CCFB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TCGA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  tumor samples (178)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5E59"/>
                </a:solidFill>
              </a:rPr>
              <a:t>GTEx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  healthy pancreas (167)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5E59"/>
                </a:solidFill>
              </a:rPr>
              <a:t>Both reprocessed through the UCSC Xena “Toil” pipeline, so tumor and normal are measured in the same units and are directly comparable.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Why that matters: </a:t>
            </a:r>
            <a:pPr indent="0" marL="0">
              <a:buNone/>
            </a:pPr>
            <a:r>
              <a:rPr lang="en-US" sz="1300" dirty="0">
                <a:solidFill>
                  <a:srgbClr val="115E59"/>
                </a:solidFill>
              </a:rPr>
              <a:t>mixing two differently-normalized datasets would make any fold-change meaningless.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panel — every term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</a:rPr>
              <a:t>log2 fold-change (log2FC)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Tumor vs normal on a log2 scale. +1 = 2× higher in tumor, +2 = 4×, 0 = same, negative = lower in tumor.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2587752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</a:rPr>
              <a:t>▲ Up in tumor / ▼ Down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Direction of a significant change (at least ~1.5×).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666744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</a:rPr>
              <a:t>p-value (p)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Chance the difference is random. Small (p &lt; 0.05) = real; p ≈ 0 = extremely significant.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</a:rPr>
              <a:t>Tumor / Normal median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middle expression value across all samples, in log2(TPM).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3640" y="2587752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</a:rPr>
              <a:t>TPM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Transcripts Per Million — a standard normalized unit of gene expression.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63640" y="3666744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</a:rPr>
              <a:t>Dysregulation bar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magnitude of the change (size of |log2FC|) — how strongly dysregulated.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12080"/>
            <a:ext cx="4722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(large +log2FC) = strongly over-expressed in tumor → strong candidate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507492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5212080"/>
            <a:ext cx="4722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 = expressed the same as normal tissue → not dysregulated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828800"/>
            <a:ext cx="3291840" cy="32918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377440"/>
            <a:ext cx="2194560" cy="21945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377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528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tumor need this gene?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— what it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Uses genome-wide </a:t>
            </a:r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CRISPR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 knockout screens to ask a direct question: if you delete this gene, do the cancer cells die?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If yes, the tumor depends on the gene to survive.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ADDS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true drivers from passengers. A frequently-mutated gene the tumor doesn’t actually need scores near zero; a real dependency scores strongly. It is the strongest causal evidence short of a clinical trial.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EDE9F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21945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</a:rPr>
              <a:t>DepMap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  (Broad Institute) — the Cancer Dependency Map.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</a:rPr>
              <a:t>The </a:t>
            </a:r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</a:rPr>
              <a:t>Chronos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</a:rPr>
              <a:t> algorithm scores the effect of knocking out each gene across ~1,100 cancer cell lines.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</a:rPr>
              <a:t>We average the </a:t>
            </a:r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</a:rPr>
              <a:t>48 pancreatic</a:t>
            </a:r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</a:rPr>
              <a:t> cell lines for this disease.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panel — every term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Mean gene-effect (Chronos)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Average effect of knocking the gene out. 0 = no effect, −1 = median common-essential (strong), positive = knockout helps growth.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2587752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Class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Strong dependency (&lt; −1) · Dependency (&lt; −0.5) · Weak (&lt; −0.1) · Not dependent.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666744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48 pancreatic lines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Number of pancreatic cancer cell lines screened and averaged.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Dependency strength bar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scaled magnitude of the dependency (0 to 100%).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3640" y="2587752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% of lines dependent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Fraction of the cell lines where gene-effect is below −0.5.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63640" y="3666744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</a:rPr>
              <a:t>Strongest line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The single most dependent cell line (most negative value).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212080"/>
            <a:ext cx="4722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NEGATIVE = stronger dependency → tumor needs it → better target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507492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5212080"/>
            <a:ext cx="4722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near 0 = the tumor does not need it (e.g. tumor suppressors)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828800"/>
            <a:ext cx="3291840" cy="32918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377440"/>
            <a:ext cx="2194560" cy="21945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9966960" y="23774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528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drug?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— what it is, and every term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6035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Measures how strongly the human population tolerates </a:t>
            </a:r>
            <a:pPr indent="0" marL="0">
              <a:buNone/>
            </a:pPr>
            <a:r>
              <a:rPr lang="en-US" sz="1550" i="1" dirty="0">
                <a:solidFill>
                  <a:srgbClr val="1E293B"/>
                </a:solidFill>
              </a:rPr>
              <a:t>losing</a:t>
            </a:r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1E293B"/>
                </a:solidFill>
              </a:rPr>
              <a:t> this gene. A gene humans cannot afford to break is essential — drugging it by knockdown risks toxicity. </a:t>
            </a:r>
            <a:endParaRPr lang="en-US" sz="1550" dirty="0"/>
          </a:p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gnomAD (Genome Aggregation Database) — constraint metrics from ~800,000 human genomes.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858000" y="1508760"/>
            <a:ext cx="4690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pLI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Probability of Loss-of-function Intolerance (0–1). ≥ 0.9 = the gene cannot tolerate being knocked out.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0" y="2478024"/>
            <a:ext cx="4690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LOEUF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LoF Observed/Expected Upper bound Fraction. Lower = more constrained; &lt; 0.6 = constrained (gnomAD v4).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0" y="3447288"/>
            <a:ext cx="4690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LoF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Loss of Function — variants that break the gene.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0" y="4416552"/>
            <a:ext cx="4690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</a:rPr>
              <a:t>Knockdown safety concern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0–100%, derived from LOEUF/pLI: higher = more on-target toxicity risk.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507492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212080"/>
            <a:ext cx="4722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pLI / LOW LOEUF = constrained, essential in healthy cells → caution flag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507492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5212080"/>
            <a:ext cx="47228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disqualifier: KRAS and SRC are highly constrained yet remain prime targets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 cohort data — not estimates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traces back to a named public cohort of real samples — no invented or simulated numbers.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tumor patients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TCGA — sequenced tumors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87452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28600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794760" y="33832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pancreas samples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420624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GTEx — normal tissue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28600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720840" y="33832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 cell lines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420624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— CRISPR screens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18320" y="1874520"/>
            <a:ext cx="2587752" cy="3017520"/>
          </a:xfrm>
          <a:prstGeom prst="roundRect">
            <a:avLst>
              <a:gd name="adj" fmla="val 353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2286000"/>
            <a:ext cx="2221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~800k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646920" y="3383280"/>
            <a:ext cx="21305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genomes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46920" y="4206240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— population constraint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“cohort” is a defined group of real samples — patients, tissues, cell lines, or people — that the measurements are taken from.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number is computed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737360" y="175564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Dysregulation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28163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each gene's expression across the 178 tumors and the 167 healthy samples, compare the median of each group, and report the difference as a log2 fold-change.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run through the same UCSC Xena “Toil” pipeline, so tumor and normal are measured the same way and can be compared fairly.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07992" y="141732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28032" y="173736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5605272" y="175564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28032" y="2560320"/>
            <a:ext cx="28163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used CRISPR to knock out (disable) each gene, one at a time, in cancer cell lines, and measured whether the cells still survived.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48 pancreatic lines and average each gene's effect. Around −1 = strong dependency — the cells need that gene.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75904" y="1417320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95944" y="173736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69594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9473184" y="175564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95944" y="2560320"/>
            <a:ext cx="28163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checked ~800,000 healthy people for naturally-broken copies of each gene.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 broken copies = the gene is essential = a caution flag (pLI / LOEUF). Many broken copies = losing it is tolerated, so it is safer.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2180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440680"/>
            <a:ext cx="102687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In plain terms: 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“Knock out” = break a gene so it makes no working product.    “Toil pipeline” = one uniform processing so TCGA tumor and GTEx normal can be compared fairly.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Pancreatic cancer — real numbers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2468880"/>
                <a:gridCol w="2011680"/>
                <a:gridCol w="25877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Dysregulation (log2FC)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(Chronos)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(pLI / LOEUF)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+1.94  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−2.14  (96%)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0.23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Driver: up, essential, constrained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+1.46  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0.33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 by expression + druggability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+1.90  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0.42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suppressor — not a dependency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CEACAM5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+10.9  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pancreatic tumor marker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−2.52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Common-essential (ribosome)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comes from a named public dataset — gnomAD live, TCGA/GTEx and DepMap from the preloaded tables. “—” = not applicable for that gene.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pancreatic — other diseases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56432" cy="402336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1828800" y="1984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Dysregulation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27249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cancer with TCGA tumor + GTEx normal tissue (breast, glioblastoma, lung…). Rebuild the table per disease. Non-cancer needs that disease’s tissue vs normal.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05840" y="4937760"/>
            <a:ext cx="2724912" cy="4572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9377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Disease-specific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07992" y="1600200"/>
            <a:ext cx="3456432" cy="402336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9659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73752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5696712" y="1984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73752" y="2971800"/>
            <a:ext cx="27249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covers ~30 cancer lineages — just slice the relevant one. Most powerful for cancers; limited for non-cancer disease (it is cancer-cell-line based).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73752" y="4937760"/>
            <a:ext cx="2724912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49377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Lineage-specific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75904" y="1600200"/>
            <a:ext cx="3456432" cy="4023360"/>
          </a:xfrm>
          <a:prstGeom prst="roundRect">
            <a:avLst>
              <a:gd name="adj" fmla="val 26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41664" y="1965960"/>
            <a:ext cx="731520" cy="7315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741664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60" dirty="0"/>
          </a:p>
        </p:txBody>
      </p:sp>
      <p:sp>
        <p:nvSpPr>
          <p:cNvPr id="20" name="Text 18"/>
          <p:cNvSpPr/>
          <p:nvPr/>
        </p:nvSpPr>
        <p:spPr>
          <a:xfrm>
            <a:off x="9564624" y="1984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41664" y="2971800"/>
            <a:ext cx="27249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is a property of the gene, not the disease. The same pLI / LOEUF applies to every disease — works everywhere as-is, no rebuild.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741664" y="4937760"/>
            <a:ext cx="2724912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8741664" y="49377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— abbreviations on screen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6245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Stands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Cancer Genome Atlas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database of tumor genomics / expression.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Genotype-Tissue Expression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expression from healthy human tissues.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Transcripts Per Million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unit of gene expression.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log2FC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log2 fold-change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vs normal expression ratio, on a log2 scale.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Dependency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 knockout screens across cancer cell lines.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(gene-knockout technology)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to delete each gene and measure the effect.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DepMap gene-effect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 effect, −1 = strong (common-essential).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gnomAD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Genome Aggregation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metrics from ~800k human genomes.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 of LoF Intolerance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 = gene cannot tolerate being knocked out.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LOEUF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LoF Obs/Exp Upper Fraction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= more constrained; &lt; 0.6 = constrained.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Variants that break the gene.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DISEASE2TARGET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axes, one clearer picture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554480" y="2743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Dysregulation   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Is it abnormally expressed in the tumor?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155448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Dependency   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Does the tumor need it to survive?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1554480" y="4480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Safety   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Is it safe to drug, or essential to healthy cells?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recover targets — like SRC — that single-source scoring buries.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Disease2Target — Three New Evidence Axes</dc:title>
  <dc:subject>PptxGenJS Presentation</dc:subject>
  <dc:creator>Nikhil Kurmachalam</dc:creator>
  <cp:lastModifiedBy>Nikhil Kurmachalam</cp:lastModifiedBy>
  <cp:revision>1</cp:revision>
  <dcterms:created xsi:type="dcterms:W3CDTF">2026-06-26T18:18:30Z</dcterms:created>
  <dcterms:modified xsi:type="dcterms:W3CDTF">2026-06-26T18:18:30Z</dcterms:modified>
</cp:coreProperties>
</file>